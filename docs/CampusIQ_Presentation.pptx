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b2f458-ed02-7adf-ba2c-0f55bd395d3f}">
          <p14:sldIdLst>
            <p14:sldId id="256"/>
            <p14:sldId id="257"/>
            <p14:sldId id="258"/>
          </p14:sldIdLst>
        </p14:section>
        <p14:section name="Database concepts" id="{008897c6-06ad-3770-09f8-1017b30030d3}">
          <p14:sldIdLst>
            <p14:sldId id="259"/>
            <p14:sldId id="260"/>
            <p14:sldId id="261"/>
          </p14:sldIdLst>
        </p14:section>
        <p14:section name="Analytics and AI" id="{e3d02cb4-4a90-acbd-6acd-efb3308201bf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9b1b641f-b8d6-95a1-25d5-8afa5ce0d09b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B2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B26"/>
                </a:solidFill>
                <a:latin typeface="+mn-lt"/>
              </a:rPr>
              <a:t>Test set results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3AA5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83.8</c:v>
                </c:pt>
                <c:pt idx="1">
                  <c:v>80.9</c:v>
                </c:pt>
                <c:pt idx="2">
                  <c:v>71.4</c:v>
                </c:pt>
                <c:pt idx="3">
                  <c:v>75.9</c:v>
                </c:pt>
                <c:pt idx="4">
                  <c:v>90.6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79.6</c:v>
                </c:pt>
                <c:pt idx="1">
                  <c:v>74.6</c:v>
                </c:pt>
                <c:pt idx="2">
                  <c:v>64.9</c:v>
                </c:pt>
                <c:pt idx="3">
                  <c:v>69.4</c:v>
                </c:pt>
                <c:pt idx="4">
                  <c:v>87.2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5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CampusIQ analyses student and placement data using MongoDB. It covers all six units of CSE494: NoSQL basics, CRUD and modelling, indexing and aggregation, Node.js and Python integration, AI, and a complete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placement data is scattered, cannot be joined and gives no prediction. Solution: one document database, real-time analytics, a prediction model and an assistant that answers questions from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flow: React calls the Express API with Axios. Express uses Mongoose to talk to MongoDB Atlas. For ML, Node calls a small Python FastAPI service that loads a scikit-learn model. The result is saved in MongoDB. The browser never talks to the database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I. A student with skills, projects and certifications is naturally a nested document. MongoDB is a CP system in the CAP theorem; Atlas gives a replica set. Mention the BSON types used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III. Embedded: skills, projects, certifications, internships (always read with the student). Referenced: companyId in a drive, studentId and driveId in an application. One-to-one: unique studentId in predictions. One-to-many: company to drives. Many-to-many: students and drives through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II and III. Show the Add student form with CGPA 15: Mongoose returns a clear 400 error. Duplicate email returns 409. Because MongoDB has no foreign keys, the API verifies companyId, studentId and driveId and cascades deletes.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IV. Open Database Performance. Every query runs twice: normal plan and forced collection scan with hint({$natural:1}). The page shows real explain("executionStats") values: index used, keys examined, documents examined, documents returned and time. Nothing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IV. Every dashboard number comes from a pipeline, nothing is hard-coded. Mention that $lookup is a left outer join, $unwind splits arrays, $facet runs several counts at once. Pipelines are in backend/services/analyticsService.js.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V (AI-driven query optimization). The advisor applies the ESR rule: Equality, Sort, Range. It creates the index on a temporary copy of the students collection, so real indexes never change. Query Lab only accepts a query id, so no command can be injected.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V. Features: CGPA, attendance, DSA, aptitude, communication, projects, certifications, internships, skills. 80/20 stratified split. Logistic Regression beat Random Forest and is easier to explain (every feature has a weight). Risk: 65% or more is Low, 35 to 65 is Medium, below 35 is High. Flow: Node calls FastAPI, which uses scikit-learn; the result is saved in MongoDB. These are results on the generated demo data; with real college data, retrain using export_dataset.py.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V and VI. Example: "Which branch has the highest placement rate?" The system detects the intent, runs the aggregation, and writes the answer from the returned rows. Unknown questions get a polite "cannot answer" instead of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unit of the syllabus to a feature you can show. Use docs/MONGODB_QUERIES.md as the practical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a document database fits placement data. Embedding keeps profiles in one read, references keep shared data consistent, indexes and aggregation give fast analytics, and the Node-Python design adds prediction.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CampusIQ  ·  CSE494 Intelligent NoSQL Databases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uation cap circle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3" name="Graduation cap icon" descr="Graduation 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053389"/>
            <a:ext cx="362102" cy="362102"/>
          </a:xfrm>
          <a:prstGeom prst="rect">
            <a:avLst/>
          </a:prstGeom>
        </p:spPr>
      </p:pic>
      <p:sp>
        <p:nvSpPr>
          <p:cNvPr id="4" name="Deck title"/>
          <p:cNvSpPr txBox="1"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CampusIQ</a:t>
            </a:r>
            <a:endParaRPr lang="en-US" sz="6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Intelligent Student &amp; Placement Analytics System</a:t>
            </a:r>
            <a:endParaRPr lang="en-US" sz="2400" dirty="0"/>
          </a:p>
        </p:txBody>
      </p:sp>
      <p:sp>
        <p:nvSpPr>
          <p:cNvPr id="6" name="Course"/>
          <p:cNvSpPr txBox="1"/>
          <p:nvPr/>
        </p:nvSpPr>
        <p:spPr>
          <a:xfrm>
            <a:off x="54864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Mini project  ·  CSE494: Intelligent NoSQL Databases</a:t>
            </a:r>
            <a:endParaRPr lang="en-US" sz="1600" dirty="0"/>
          </a:p>
        </p:txBody>
      </p:sp>
      <p:sp>
        <p:nvSpPr>
          <p:cNvPr id="7" name="Presenter"/>
          <p:cNvSpPr txBox="1"/>
          <p:nvPr/>
        </p:nvSpPr>
        <p:spPr>
          <a:xfrm>
            <a:off x="54864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Presented by Amit</a:t>
            </a:r>
            <a:endParaRPr lang="en-US" sz="16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CampusIQ</a:t>
            </a:r>
            <a:endParaRPr lang="en-US" sz="3600" dirty="0"/>
          </a:p>
        </p:txBody>
      </p:sp>
      <p:sp>
        <p:nvSpPr>
          <p:cNvPr id="3" name="Today card"/>
          <p:cNvSpPr/>
          <p:nvPr/>
        </p:nvSpPr>
        <p:spPr>
          <a:xfrm>
            <a:off x="45720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preadsheet 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5" name="Spreadsheet icon" descr="Spread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662379"/>
            <a:ext cx="241402" cy="241402"/>
          </a:xfrm>
          <a:prstGeom prst="rect">
            <a:avLst/>
          </a:prstGeom>
        </p:spPr>
      </p:pic>
      <p:sp>
        <p:nvSpPr>
          <p:cNvPr id="6" name="Today heading"/>
          <p:cNvSpPr txBox="1"/>
          <p:nvPr/>
        </p:nvSpPr>
        <p:spPr>
          <a:xfrm>
            <a:off x="146304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Today</a:t>
            </a:r>
            <a:endParaRPr lang="en-US" sz="2200" dirty="0"/>
          </a:p>
        </p:txBody>
      </p:sp>
      <p:sp>
        <p:nvSpPr>
          <p:cNvPr id="7" name="Today list"/>
          <p:cNvSpPr txBox="1"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Marks, companies and results sit in separate spreadsheets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joins: nobody can ask which branch is placed best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early warning for students who need help</a:t>
            </a:r>
            <a:endParaRPr lang="en-US" sz="1500" dirty="0"/>
          </a:p>
        </p:txBody>
      </p:sp>
      <p:sp>
        <p:nvSpPr>
          <p:cNvPr id="8" name="CampusIQ card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Database circle"/>
          <p:cNvSpPr/>
          <p:nvPr/>
        </p:nvSpPr>
        <p:spPr>
          <a:xfrm>
            <a:off x="5029200" y="1508760"/>
            <a:ext cx="548640" cy="548640"/>
          </a:xfrm>
          <a:prstGeom prst="ellipse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10" name="Database icon" descr="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819" y="1662379"/>
            <a:ext cx="241402" cy="241402"/>
          </a:xfrm>
          <a:prstGeom prst="rect">
            <a:avLst/>
          </a:prstGeom>
        </p:spPr>
      </p:pic>
      <p:sp>
        <p:nvSpPr>
          <p:cNvPr id="11" name="CampusIQ heading"/>
          <p:cNvSpPr txBox="1"/>
          <p:nvPr/>
        </p:nvSpPr>
        <p:spPr>
          <a:xfrm>
            <a:off x="57607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With CampusIQ</a:t>
            </a:r>
            <a:endParaRPr lang="en-US" sz="2200" dirty="0"/>
          </a:p>
        </p:txBody>
      </p:sp>
      <p:sp>
        <p:nvSpPr>
          <p:cNvPr id="12" name="CampusIQ list"/>
          <p:cNvSpPr txBox="1"/>
          <p:nvPr/>
        </p:nvSpPr>
        <p:spPr>
          <a:xfrm>
            <a:off x="502920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One MongoDB database with validated, linked records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Live analytics from aggregation pipelines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ML prediction and plain-English answers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React"/>
          <p:cNvSpPr/>
          <p:nvPr/>
        </p:nvSpPr>
        <p:spPr>
          <a:xfrm>
            <a:off x="457200" y="137160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eact circle"/>
          <p:cNvSpPr/>
          <p:nvPr/>
        </p:nvSpPr>
        <p:spPr>
          <a:xfrm>
            <a:off x="594360" y="1600200"/>
            <a:ext cx="548640" cy="548640"/>
          </a:xfrm>
          <a:prstGeom prst="ellipse">
            <a:avLst/>
          </a:prstGeom>
          <a:solidFill>
            <a:srgbClr val="3B82A0"/>
          </a:solidFill>
          <a:ln w="12700">
            <a:solidFill>
              <a:srgbClr val="3B82A0"/>
            </a:solidFill>
            <a:prstDash val="solid"/>
          </a:ln>
        </p:spPr>
      </p:sp>
      <p:pic>
        <p:nvPicPr>
          <p:cNvPr id="5" name="React icon" descr="Re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" y="1753819"/>
            <a:ext cx="241402" cy="241402"/>
          </a:xfrm>
          <a:prstGeom prst="rect">
            <a:avLst/>
          </a:prstGeom>
        </p:spPr>
      </p:pic>
      <p:sp>
        <p:nvSpPr>
          <p:cNvPr id="6" name="React title"/>
          <p:cNvSpPr txBox="1"/>
          <p:nvPr/>
        </p:nvSpPr>
        <p:spPr>
          <a:xfrm>
            <a:off x="1280160" y="1554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React</a:t>
            </a:r>
            <a:endParaRPr lang="en-US" sz="1600" dirty="0"/>
          </a:p>
        </p:txBody>
      </p:sp>
      <p:sp>
        <p:nvSpPr>
          <p:cNvPr id="7" name="React sub"/>
          <p:cNvSpPr txBox="1"/>
          <p:nvPr/>
        </p:nvSpPr>
        <p:spPr>
          <a:xfrm>
            <a:off x="128016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Vite + Tailwind</a:t>
            </a:r>
            <a:endParaRPr lang="en-US" sz="1200" dirty="0"/>
          </a:p>
        </p:txBody>
      </p:sp>
      <p:sp>
        <p:nvSpPr>
          <p:cNvPr id="8" name="Express"/>
          <p:cNvSpPr/>
          <p:nvPr/>
        </p:nvSpPr>
        <p:spPr>
          <a:xfrm>
            <a:off x="3474720" y="137160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Express circle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0" name="Express icon" descr="Exp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99" y="1753819"/>
            <a:ext cx="241402" cy="241402"/>
          </a:xfrm>
          <a:prstGeom prst="rect">
            <a:avLst/>
          </a:prstGeom>
        </p:spPr>
      </p:pic>
      <p:sp>
        <p:nvSpPr>
          <p:cNvPr id="11" name="Express title"/>
          <p:cNvSpPr txBox="1"/>
          <p:nvPr/>
        </p:nvSpPr>
        <p:spPr>
          <a:xfrm>
            <a:off x="4297680" y="1554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Express</a:t>
            </a:r>
            <a:endParaRPr lang="en-US" sz="1600" dirty="0"/>
          </a:p>
        </p:txBody>
      </p:sp>
      <p:sp>
        <p:nvSpPr>
          <p:cNvPr id="12" name="Express sub"/>
          <p:cNvSpPr txBox="1"/>
          <p:nvPr/>
        </p:nvSpPr>
        <p:spPr>
          <a:xfrm>
            <a:off x="429768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Node.js + Mongoose</a:t>
            </a:r>
            <a:endParaRPr lang="en-US" sz="1200" dirty="0"/>
          </a:p>
        </p:txBody>
      </p:sp>
      <p:sp>
        <p:nvSpPr>
          <p:cNvPr id="13" name="MongoDB"/>
          <p:cNvSpPr/>
          <p:nvPr/>
        </p:nvSpPr>
        <p:spPr>
          <a:xfrm>
            <a:off x="6492240" y="137160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MongoDB circle"/>
          <p:cNvSpPr/>
          <p:nvPr/>
        </p:nvSpPr>
        <p:spPr>
          <a:xfrm>
            <a:off x="6629400" y="1600200"/>
            <a:ext cx="548640" cy="548640"/>
          </a:xfrm>
          <a:prstGeom prst="ellipse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15" name="MongoDB icon" descr="MongoD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19" y="1753819"/>
            <a:ext cx="241402" cy="241402"/>
          </a:xfrm>
          <a:prstGeom prst="rect">
            <a:avLst/>
          </a:prstGeom>
        </p:spPr>
      </p:pic>
      <p:sp>
        <p:nvSpPr>
          <p:cNvPr id="16" name="MongoDB title"/>
          <p:cNvSpPr txBox="1"/>
          <p:nvPr/>
        </p:nvSpPr>
        <p:spPr>
          <a:xfrm>
            <a:off x="7315200" y="1554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</p:txBody>
      </p:sp>
      <p:sp>
        <p:nvSpPr>
          <p:cNvPr id="17" name="MongoDB sub"/>
          <p:cNvSpPr txBox="1"/>
          <p:nvPr/>
        </p:nvSpPr>
        <p:spPr>
          <a:xfrm>
            <a:off x="7315200" y="1920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Atlas, 6 collections</a:t>
            </a:r>
            <a:endParaRPr lang="en-US" sz="1200" dirty="0"/>
          </a:p>
        </p:txBody>
      </p:sp>
      <p:sp>
        <p:nvSpPr>
          <p:cNvPr id="18" name="FastAPI"/>
          <p:cNvSpPr/>
          <p:nvPr/>
        </p:nvSpPr>
        <p:spPr>
          <a:xfrm>
            <a:off x="3474720" y="320040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astAPI circle"/>
          <p:cNvSpPr/>
          <p:nvPr/>
        </p:nvSpPr>
        <p:spPr>
          <a:xfrm>
            <a:off x="3611880" y="34290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FastAPI icon" descr="FastAP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499" y="3582619"/>
            <a:ext cx="241402" cy="241402"/>
          </a:xfrm>
          <a:prstGeom prst="rect">
            <a:avLst/>
          </a:prstGeom>
        </p:spPr>
      </p:pic>
      <p:sp>
        <p:nvSpPr>
          <p:cNvPr id="21" name="FastAPI title"/>
          <p:cNvSpPr txBox="1"/>
          <p:nvPr/>
        </p:nvSpPr>
        <p:spPr>
          <a:xfrm>
            <a:off x="4297680" y="3383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</a:t>
            </a:r>
            <a:endParaRPr lang="en-US" sz="1600" dirty="0"/>
          </a:p>
        </p:txBody>
      </p:sp>
      <p:sp>
        <p:nvSpPr>
          <p:cNvPr id="22" name="FastAPI sub"/>
          <p:cNvSpPr txBox="1"/>
          <p:nvPr/>
        </p:nvSpPr>
        <p:spPr>
          <a:xfrm>
            <a:off x="429768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Python service</a:t>
            </a:r>
            <a:endParaRPr lang="en-US" sz="1200" dirty="0"/>
          </a:p>
        </p:txBody>
      </p:sp>
      <p:sp>
        <p:nvSpPr>
          <p:cNvPr id="23" name="sklearn"/>
          <p:cNvSpPr/>
          <p:nvPr/>
        </p:nvSpPr>
        <p:spPr>
          <a:xfrm>
            <a:off x="6492240" y="320040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klearn circle"/>
          <p:cNvSpPr/>
          <p:nvPr/>
        </p:nvSpPr>
        <p:spPr>
          <a:xfrm>
            <a:off x="6629400" y="342900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5" name="sklearn icon" descr="sklear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19" y="3582619"/>
            <a:ext cx="241402" cy="241402"/>
          </a:xfrm>
          <a:prstGeom prst="rect">
            <a:avLst/>
          </a:prstGeom>
        </p:spPr>
      </p:pic>
      <p:sp>
        <p:nvSpPr>
          <p:cNvPr id="26" name="sklearn title"/>
          <p:cNvSpPr txBox="1"/>
          <p:nvPr/>
        </p:nvSpPr>
        <p:spPr>
          <a:xfrm>
            <a:off x="7315200" y="3383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27" name="sklearn sub"/>
          <p:cNvSpPr txBox="1"/>
          <p:nvPr/>
        </p:nvSpPr>
        <p:spPr>
          <a:xfrm>
            <a:off x="731520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28" name="Arrow"/>
          <p:cNvSpPr/>
          <p:nvPr/>
        </p:nvSpPr>
        <p:spPr>
          <a:xfrm>
            <a:off x="2651760" y="1874520"/>
            <a:ext cx="82296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29" name="Label Axios"/>
          <p:cNvSpPr txBox="1"/>
          <p:nvPr/>
        </p:nvSpPr>
        <p:spPr>
          <a:xfrm>
            <a:off x="265176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Axios</a:t>
            </a:r>
            <a:endParaRPr lang="en-US" sz="1200" dirty="0"/>
          </a:p>
        </p:txBody>
      </p:sp>
      <p:sp>
        <p:nvSpPr>
          <p:cNvPr id="30" name="Arrow"/>
          <p:cNvSpPr/>
          <p:nvPr/>
        </p:nvSpPr>
        <p:spPr>
          <a:xfrm>
            <a:off x="5669280" y="1874520"/>
            <a:ext cx="82296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31" name="Label Mongoose"/>
          <p:cNvSpPr txBox="1"/>
          <p:nvPr/>
        </p:nvSpPr>
        <p:spPr>
          <a:xfrm>
            <a:off x="566928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Mongoose</a:t>
            </a:r>
            <a:endParaRPr lang="en-US" sz="1200" dirty="0"/>
          </a:p>
        </p:txBody>
      </p:sp>
      <p:sp>
        <p:nvSpPr>
          <p:cNvPr id="32" name="Arrow"/>
          <p:cNvSpPr/>
          <p:nvPr/>
        </p:nvSpPr>
        <p:spPr>
          <a:xfrm>
            <a:off x="4572000" y="2377440"/>
            <a:ext cx="0" cy="82296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33" name="Label predict"/>
          <p:cNvSpPr txBox="1"/>
          <p:nvPr/>
        </p:nvSpPr>
        <p:spPr>
          <a:xfrm>
            <a:off x="466344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POST /predict</a:t>
            </a:r>
            <a:endParaRPr lang="en-US" sz="1200" dirty="0"/>
          </a:p>
        </p:txBody>
      </p:sp>
      <p:sp>
        <p:nvSpPr>
          <p:cNvPr id="34" name="Arrow"/>
          <p:cNvSpPr/>
          <p:nvPr/>
        </p:nvSpPr>
        <p:spPr>
          <a:xfrm>
            <a:off x="5669280" y="3703320"/>
            <a:ext cx="82296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35" name="Flow note"/>
          <p:cNvSpPr txBox="1"/>
          <p:nvPr/>
        </p:nvSpPr>
        <p:spPr>
          <a:xfrm>
            <a:off x="45720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prediction comes back to Node and is saved in the predictions collection.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MongoDB</a:t>
            </a:r>
            <a:endParaRPr lang="en-US" sz="3600" dirty="0"/>
          </a:p>
        </p:txBody>
      </p:sp>
      <p:graphicFrame>
        <p:nvGraphicFramePr>
          <p:cNvPr id="5" name="SQL vs MongoD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2103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SQL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MongoDB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A"/>
                          </a:solidFill>
                        </a:rPr>
                        <a:t>Data unit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Row in a 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Document (BSON)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A"/>
                          </a:solidFill>
                        </a:rPr>
                        <a:t>Schema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Fixed columns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Flexible, Mongoose rules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A"/>
                          </a:solidFill>
                        </a:rPr>
                        <a:t>Related 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JOIN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Embedding, $lookup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A"/>
                          </a:solidFill>
                        </a:rPr>
                        <a:t>Scaling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Vertical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Horizontal (sharding)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P card"/>
          <p:cNvSpPr/>
          <p:nvPr/>
        </p:nvSpPr>
        <p:spPr>
          <a:xfrm>
            <a:off x="5943600" y="128016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AP heading"/>
          <p:cNvSpPr txBox="1"/>
          <p:nvPr/>
        </p:nvSpPr>
        <p:spPr>
          <a:xfrm>
            <a:off x="61722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CAP theorem</a:t>
            </a:r>
            <a:endParaRPr lang="en-US" sz="2000" dirty="0"/>
          </a:p>
        </p:txBody>
      </p:sp>
      <p:sp>
        <p:nvSpPr>
          <p:cNvPr id="6" name="CAP body"/>
          <p:cNvSpPr txBox="1"/>
          <p:nvPr/>
        </p:nvSpPr>
        <p:spPr>
          <a:xfrm>
            <a:off x="6172200" y="196596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MongoDB is CP: consistency and partition tolerance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Atlas runs a 3-node replica set with automatic failover</a:t>
            </a:r>
            <a:endParaRPr lang="en-US" sz="1400" dirty="0"/>
          </a:p>
        </p:txBody>
      </p:sp>
      <p:sp>
        <p:nvSpPr>
          <p:cNvPr id="7" name="BSON note"/>
          <p:cNvSpPr txBox="1"/>
          <p:nvPr/>
        </p:nvSpPr>
        <p:spPr>
          <a:xfrm>
            <a:off x="45720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Types used: String, Double, Int32, Boolean, Array, Object, ObjectId, Date, Null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model</a:t>
            </a:r>
            <a:endParaRPr lang="en-US" sz="3600" dirty="0"/>
          </a:p>
        </p:txBody>
      </p:sp>
      <p:sp>
        <p:nvSpPr>
          <p:cNvPr id="3" name="students card"/>
          <p:cNvSpPr/>
          <p:nvPr/>
        </p:nvSpPr>
        <p:spPr>
          <a:xfrm>
            <a:off x="457200" y="128016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udents circle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5" name="students icon" descr="stu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545336"/>
            <a:ext cx="201168" cy="201168"/>
          </a:xfrm>
          <a:prstGeom prst="rect">
            <a:avLst/>
          </a:prstGeom>
        </p:spPr>
      </p:pic>
      <p:sp>
        <p:nvSpPr>
          <p:cNvPr id="6" name="students name"/>
          <p:cNvSpPr txBox="1"/>
          <p:nvPr/>
        </p:nvSpPr>
        <p:spPr>
          <a:xfrm>
            <a:off x="11887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</a:t>
            </a:r>
            <a:endParaRPr lang="en-US" sz="1800" dirty="0"/>
          </a:p>
        </p:txBody>
      </p:sp>
      <p:sp>
        <p:nvSpPr>
          <p:cNvPr id="7" name="students desc"/>
          <p:cNvSpPr txBox="1"/>
          <p:nvPr/>
        </p:nvSpPr>
        <p:spPr>
          <a:xfrm>
            <a:off x="64008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 with embedded skills, projects, certifications</a:t>
            </a:r>
            <a:endParaRPr lang="en-US" sz="1400" dirty="0"/>
          </a:p>
        </p:txBody>
      </p:sp>
      <p:sp>
        <p:nvSpPr>
          <p:cNvPr id="8" name="companies card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mpanies circle"/>
          <p:cNvSpPr/>
          <p:nvPr/>
        </p:nvSpPr>
        <p:spPr>
          <a:xfrm>
            <a:off x="3383280" y="1417320"/>
            <a:ext cx="457200" cy="457200"/>
          </a:xfrm>
          <a:prstGeom prst="ellipse">
            <a:avLst/>
          </a:prstGeom>
          <a:solidFill>
            <a:srgbClr val="3B82A0"/>
          </a:solidFill>
          <a:ln w="12700">
            <a:solidFill>
              <a:srgbClr val="3B82A0"/>
            </a:solidFill>
            <a:prstDash val="solid"/>
          </a:ln>
        </p:spPr>
      </p:sp>
      <p:pic>
        <p:nvPicPr>
          <p:cNvPr id="10" name="companies icon" descr="compan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545336"/>
            <a:ext cx="201168" cy="201168"/>
          </a:xfrm>
          <a:prstGeom prst="rect">
            <a:avLst/>
          </a:prstGeom>
        </p:spPr>
      </p:pic>
      <p:sp>
        <p:nvSpPr>
          <p:cNvPr id="11" name="companies name"/>
          <p:cNvSpPr txBox="1"/>
          <p:nvPr/>
        </p:nvSpPr>
        <p:spPr>
          <a:xfrm>
            <a:off x="39776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companies</a:t>
            </a:r>
            <a:endParaRPr lang="en-US" sz="1800" dirty="0"/>
          </a:p>
        </p:txBody>
      </p:sp>
      <p:sp>
        <p:nvSpPr>
          <p:cNvPr id="12" name="companies desc"/>
          <p:cNvSpPr txBox="1"/>
          <p:nvPr/>
        </p:nvSpPr>
        <p:spPr>
          <a:xfrm>
            <a:off x="342900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Recruiting companies</a:t>
            </a:r>
            <a:endParaRPr lang="en-US" sz="1400" dirty="0"/>
          </a:p>
        </p:txBody>
      </p:sp>
      <p:sp>
        <p:nvSpPr>
          <p:cNvPr id="13" name="jobDrives card"/>
          <p:cNvSpPr/>
          <p:nvPr/>
        </p:nvSpPr>
        <p:spPr>
          <a:xfrm>
            <a:off x="6035040" y="128016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jobDrives circle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jobDrives icon" descr="jobDriv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545336"/>
            <a:ext cx="201168" cy="201168"/>
          </a:xfrm>
          <a:prstGeom prst="rect">
            <a:avLst/>
          </a:prstGeom>
        </p:spPr>
      </p:pic>
      <p:sp>
        <p:nvSpPr>
          <p:cNvPr id="16" name="jobDrives name"/>
          <p:cNvSpPr txBox="1"/>
          <p:nvPr/>
        </p:nvSpPr>
        <p:spPr>
          <a:xfrm>
            <a:off x="67665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jobDrives</a:t>
            </a:r>
            <a:endParaRPr lang="en-US" sz="1800" dirty="0"/>
          </a:p>
        </p:txBody>
      </p:sp>
      <p:sp>
        <p:nvSpPr>
          <p:cNvPr id="17" name="jobDrives desc"/>
          <p:cNvSpPr txBox="1"/>
          <p:nvPr/>
        </p:nvSpPr>
        <p:spPr>
          <a:xfrm>
            <a:off x="621792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Openings that reference a company</a:t>
            </a:r>
            <a:endParaRPr lang="en-US" sz="1400" dirty="0"/>
          </a:p>
        </p:txBody>
      </p:sp>
      <p:sp>
        <p:nvSpPr>
          <p:cNvPr id="18" name="applications card"/>
          <p:cNvSpPr/>
          <p:nvPr/>
        </p:nvSpPr>
        <p:spPr>
          <a:xfrm>
            <a:off x="457200" y="274320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pplications circle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pic>
        <p:nvPicPr>
          <p:cNvPr id="20" name="applications icon" descr="appl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008376"/>
            <a:ext cx="201168" cy="201168"/>
          </a:xfrm>
          <a:prstGeom prst="rect">
            <a:avLst/>
          </a:prstGeom>
        </p:spPr>
      </p:pic>
      <p:sp>
        <p:nvSpPr>
          <p:cNvPr id="21" name="applications name"/>
          <p:cNvSpPr txBox="1"/>
          <p:nvPr/>
        </p:nvSpPr>
        <p:spPr>
          <a:xfrm>
            <a:off x="118872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applications</a:t>
            </a:r>
            <a:endParaRPr lang="en-US" sz="1800" dirty="0"/>
          </a:p>
        </p:txBody>
      </p:sp>
      <p:sp>
        <p:nvSpPr>
          <p:cNvPr id="22" name="applications desc"/>
          <p:cNvSpPr txBox="1"/>
          <p:nvPr/>
        </p:nvSpPr>
        <p:spPr>
          <a:xfrm>
            <a:off x="640080" y="3429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 students to drives (many-to-many)</a:t>
            </a:r>
            <a:endParaRPr lang="en-US" sz="1400" dirty="0"/>
          </a:p>
        </p:txBody>
      </p:sp>
      <p:sp>
        <p:nvSpPr>
          <p:cNvPr id="23" name="skills card"/>
          <p:cNvSpPr/>
          <p:nvPr/>
        </p:nvSpPr>
        <p:spPr>
          <a:xfrm>
            <a:off x="3246120" y="274320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kills circle"/>
          <p:cNvSpPr/>
          <p:nvPr/>
        </p:nvSpPr>
        <p:spPr>
          <a:xfrm>
            <a:off x="3383280" y="2880360"/>
            <a:ext cx="457200" cy="457200"/>
          </a:xfrm>
          <a:prstGeom prst="ellipse">
            <a:avLst/>
          </a:prstGeom>
          <a:solidFill>
            <a:srgbClr val="3B82A0"/>
          </a:solidFill>
          <a:ln w="12700">
            <a:solidFill>
              <a:srgbClr val="3B82A0"/>
            </a:solidFill>
            <a:prstDash val="solid"/>
          </a:ln>
        </p:spPr>
      </p:sp>
      <p:pic>
        <p:nvPicPr>
          <p:cNvPr id="25" name="skills icon" descr="skil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008376"/>
            <a:ext cx="201168" cy="201168"/>
          </a:xfrm>
          <a:prstGeom prst="rect">
            <a:avLst/>
          </a:prstGeom>
        </p:spPr>
      </p:pic>
      <p:sp>
        <p:nvSpPr>
          <p:cNvPr id="26" name="skills name"/>
          <p:cNvSpPr txBox="1"/>
          <p:nvPr/>
        </p:nvSpPr>
        <p:spPr>
          <a:xfrm>
            <a:off x="397764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skills</a:t>
            </a:r>
            <a:endParaRPr lang="en-US" sz="1800" dirty="0"/>
          </a:p>
        </p:txBody>
      </p:sp>
      <p:sp>
        <p:nvSpPr>
          <p:cNvPr id="27" name="skills desc"/>
          <p:cNvSpPr txBox="1"/>
          <p:nvPr/>
        </p:nvSpPr>
        <p:spPr>
          <a:xfrm>
            <a:off x="3429000" y="3429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 master data and demand</a:t>
            </a:r>
            <a:endParaRPr lang="en-US" sz="1400" dirty="0"/>
          </a:p>
        </p:txBody>
      </p:sp>
      <p:sp>
        <p:nvSpPr>
          <p:cNvPr id="28" name="predictions card"/>
          <p:cNvSpPr/>
          <p:nvPr/>
        </p:nvSpPr>
        <p:spPr>
          <a:xfrm>
            <a:off x="6035040" y="2743200"/>
            <a:ext cx="2651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redictions circle"/>
          <p:cNvSpPr/>
          <p:nvPr/>
        </p:nvSpPr>
        <p:spPr>
          <a:xfrm>
            <a:off x="6172200" y="2880360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30" name="predictions icon" descr="predictio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008376"/>
            <a:ext cx="201168" cy="201168"/>
          </a:xfrm>
          <a:prstGeom prst="rect">
            <a:avLst/>
          </a:prstGeom>
        </p:spPr>
      </p:pic>
      <p:sp>
        <p:nvSpPr>
          <p:cNvPr id="31" name="predictions name"/>
          <p:cNvSpPr txBox="1"/>
          <p:nvPr/>
        </p:nvSpPr>
        <p:spPr>
          <a:xfrm>
            <a:off x="67665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predictions</a:t>
            </a:r>
            <a:endParaRPr lang="en-US" sz="1800" dirty="0"/>
          </a:p>
        </p:txBody>
      </p:sp>
      <p:sp>
        <p:nvSpPr>
          <p:cNvPr id="32" name="predictions desc"/>
          <p:cNvSpPr txBox="1"/>
          <p:nvPr/>
        </p:nvSpPr>
        <p:spPr>
          <a:xfrm>
            <a:off x="6217920" y="3429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ML result per student</a:t>
            </a:r>
            <a:endParaRPr lang="en-US" sz="1400" dirty="0"/>
          </a:p>
        </p:txBody>
      </p:sp>
      <p:sp>
        <p:nvSpPr>
          <p:cNvPr id="33" name="Rule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Embed what is read together. Reference what is shared or keeps growing.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CRUD and validation</a:t>
            </a:r>
            <a:endParaRPr lang="en-US" sz="3600" dirty="0"/>
          </a:p>
        </p:txBody>
      </p:sp>
      <p:graphicFrame>
        <p:nvGraphicFramePr>
          <p:cNvPr id="7" name="CRU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REST 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MongoDB operation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POST /students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insertOne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GET /students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find + filters + pagination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PUT /students/:id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updateOne, validators 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DELETE /students/:id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A"/>
                          </a:solidFill>
                        </a:rPr>
                        <a:t>deleteOne + remove applications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Validation card"/>
          <p:cNvSpPr/>
          <p:nvPr/>
        </p:nvSpPr>
        <p:spPr>
          <a:xfrm>
            <a:off x="5486400" y="1280160"/>
            <a:ext cx="32004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ield circle"/>
          <p:cNvSpPr/>
          <p:nvPr/>
        </p:nvSpPr>
        <p:spPr>
          <a:xfrm>
            <a:off x="5669280" y="1417320"/>
            <a:ext cx="457200" cy="45720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6" name="Shield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1545336"/>
            <a:ext cx="201168" cy="201168"/>
          </a:xfrm>
          <a:prstGeom prst="rect">
            <a:avLst/>
          </a:prstGeom>
        </p:spPr>
      </p:pic>
      <p:sp>
        <p:nvSpPr>
          <p:cNvPr id="7" name="Validation heading"/>
          <p:cNvSpPr txBox="1"/>
          <p:nvPr/>
        </p:nvSpPr>
        <p:spPr>
          <a:xfrm>
            <a:off x="63093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Validation</a:t>
            </a:r>
            <a:endParaRPr lang="en-US" sz="2000" dirty="0"/>
          </a:p>
        </p:txBody>
      </p:sp>
      <p:sp>
        <p:nvSpPr>
          <p:cNvPr id="8" name="Validation list"/>
          <p:cNvSpPr txBox="1"/>
          <p:nvPr/>
        </p:nvSpPr>
        <p:spPr>
          <a:xfrm>
            <a:off x="5669280" y="20116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CGPA 0 to 10, attendance 0 to 100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 email and roll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must be an allowed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Errors return HTTP 400 with field messages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 sanitised against NoSQL injection</a:t>
            </a:r>
            <a:endParaRPr lang="en-US" sz="1400" dirty="0"/>
          </a:p>
        </p:txBody>
      </p:sp>
      <p:sp>
        <p:nvSpPr>
          <p:cNvPr id="9" name="Integrity note"/>
          <p:cNvSpPr txBox="1"/>
          <p:nvPr/>
        </p:nvSpPr>
        <p:spPr>
          <a:xfrm>
            <a:off x="457200" y="3749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No foreign keys in MongoDB, so the API checks that referenced documents exist.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Indexing and explain()</a:t>
            </a:r>
            <a:endParaRPr lang="en-US" sz="3600" dirty="0"/>
          </a:p>
        </p:txBody>
      </p:sp>
      <p:sp>
        <p:nvSpPr>
          <p:cNvPr id="3" name="Single index card"/>
          <p:cNvSpPr/>
          <p:nvPr/>
        </p:nvSpPr>
        <p:spPr>
          <a:xfrm>
            <a:off x="457200" y="1280160"/>
            <a:ext cx="40233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ngle circle"/>
          <p:cNvSpPr/>
          <p:nvPr/>
        </p:nvSpPr>
        <p:spPr>
          <a:xfrm>
            <a:off x="594360" y="1371600"/>
            <a:ext cx="530352" cy="530352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5" name="Single icon" descr="Si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859" y="1520099"/>
            <a:ext cx="233355" cy="233355"/>
          </a:xfrm>
          <a:prstGeom prst="rect">
            <a:avLst/>
          </a:prstGeom>
        </p:spPr>
      </p:pic>
      <p:sp>
        <p:nvSpPr>
          <p:cNvPr id="6" name="Single index text"/>
          <p:cNvSpPr txBox="1"/>
          <p:nvPr/>
        </p:nvSpPr>
        <p:spPr>
          <a:xfrm>
            <a:off x="1280160" y="12801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6"/>
                </a:solidFill>
              </a:rPr>
              <a:t>Single  </a:t>
            </a:r>
            <a:pPr indent="0" marL="0">
              <a:buNone/>
            </a:pPr>
            <a:r>
              <a:rPr lang="en-US" sz="1600" dirty="0">
                <a:solidFill>
                  <a:srgbClr val="1B2B2A"/>
                </a:solidFill>
              </a:rPr>
              <a:t>cgpa</a:t>
            </a:r>
            <a:endParaRPr lang="en-US" sz="1600" dirty="0"/>
          </a:p>
        </p:txBody>
      </p:sp>
      <p:sp>
        <p:nvSpPr>
          <p:cNvPr id="7" name="Compound index card"/>
          <p:cNvSpPr/>
          <p:nvPr/>
        </p:nvSpPr>
        <p:spPr>
          <a:xfrm>
            <a:off x="457200" y="2103120"/>
            <a:ext cx="40233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mpound circle"/>
          <p:cNvSpPr/>
          <p:nvPr/>
        </p:nvSpPr>
        <p:spPr>
          <a:xfrm>
            <a:off x="594360" y="2194560"/>
            <a:ext cx="530352" cy="530352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9" name="Compound icon" descr="Compou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9" y="2343059"/>
            <a:ext cx="233355" cy="233355"/>
          </a:xfrm>
          <a:prstGeom prst="rect">
            <a:avLst/>
          </a:prstGeom>
        </p:spPr>
      </p:pic>
      <p:sp>
        <p:nvSpPr>
          <p:cNvPr id="10" name="Compound index text"/>
          <p:cNvSpPr txBox="1"/>
          <p:nvPr/>
        </p:nvSpPr>
        <p:spPr>
          <a:xfrm>
            <a:off x="1280160" y="21031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6"/>
                </a:solidFill>
              </a:rPr>
              <a:t>Compound  </a:t>
            </a:r>
            <a:pPr indent="0" marL="0">
              <a:buNone/>
            </a:pPr>
            <a:r>
              <a:rPr lang="en-US" sz="1600" dirty="0">
                <a:solidFill>
                  <a:srgbClr val="1B2B2A"/>
                </a:solidFill>
              </a:rPr>
              <a:t>branch + cgpa</a:t>
            </a:r>
            <a:endParaRPr lang="en-US" sz="1600" dirty="0"/>
          </a:p>
        </p:txBody>
      </p:sp>
      <p:sp>
        <p:nvSpPr>
          <p:cNvPr id="11" name="Text index card"/>
          <p:cNvSpPr/>
          <p:nvPr/>
        </p:nvSpPr>
        <p:spPr>
          <a:xfrm>
            <a:off x="457200" y="2926080"/>
            <a:ext cx="40233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circle"/>
          <p:cNvSpPr/>
          <p:nvPr/>
        </p:nvSpPr>
        <p:spPr>
          <a:xfrm>
            <a:off x="594360" y="3017520"/>
            <a:ext cx="530352" cy="530352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3" name="Text icon" descr="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3166019"/>
            <a:ext cx="233355" cy="233355"/>
          </a:xfrm>
          <a:prstGeom prst="rect">
            <a:avLst/>
          </a:prstGeom>
        </p:spPr>
      </p:pic>
      <p:sp>
        <p:nvSpPr>
          <p:cNvPr id="14" name="Text index text"/>
          <p:cNvSpPr txBox="1"/>
          <p:nvPr/>
        </p:nvSpPr>
        <p:spPr>
          <a:xfrm>
            <a:off x="1280160" y="29260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6"/>
                </a:solidFill>
              </a:rPr>
              <a:t>Text  </a:t>
            </a:r>
            <a:pPr indent="0" marL="0">
              <a:buNone/>
            </a:pPr>
            <a:r>
              <a:rPr lang="en-US" sz="1600" dirty="0">
                <a:solidFill>
                  <a:srgbClr val="1B2B2A"/>
                </a:solidFill>
              </a:rPr>
              <a:t>name + skills</a:t>
            </a:r>
            <a:endParaRPr lang="en-US" sz="1600" dirty="0"/>
          </a:p>
        </p:txBody>
      </p:sp>
      <p:sp>
        <p:nvSpPr>
          <p:cNvPr id="15" name="Unique index card"/>
          <p:cNvSpPr/>
          <p:nvPr/>
        </p:nvSpPr>
        <p:spPr>
          <a:xfrm>
            <a:off x="457200" y="3749040"/>
            <a:ext cx="402336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Unique circle"/>
          <p:cNvSpPr/>
          <p:nvPr/>
        </p:nvSpPr>
        <p:spPr>
          <a:xfrm>
            <a:off x="594360" y="3840480"/>
            <a:ext cx="530352" cy="530352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7" name="Unique icon" descr="Uniqu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9" y="3988979"/>
            <a:ext cx="233355" cy="233355"/>
          </a:xfrm>
          <a:prstGeom prst="rect">
            <a:avLst/>
          </a:prstGeom>
        </p:spPr>
      </p:pic>
      <p:sp>
        <p:nvSpPr>
          <p:cNvPr id="18" name="Unique index text"/>
          <p:cNvSpPr txBox="1"/>
          <p:nvPr/>
        </p:nvSpPr>
        <p:spPr>
          <a:xfrm>
            <a:off x="1280160" y="37490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6"/>
                </a:solidFill>
              </a:rPr>
              <a:t>Unique  </a:t>
            </a:r>
            <a:pPr indent="0" marL="0">
              <a:buNone/>
            </a:pPr>
            <a:r>
              <a:rPr lang="en-US" sz="1600" dirty="0">
                <a:solidFill>
                  <a:srgbClr val="1B2B2A"/>
                </a:solidFill>
              </a:rPr>
              <a:t>email, student + drive</a:t>
            </a:r>
            <a:endParaRPr lang="en-US" sz="1600" dirty="0"/>
          </a:p>
        </p:txBody>
      </p:sp>
      <p:sp>
        <p:nvSpPr>
          <p:cNvPr id="19" name="COLLSCAN card"/>
          <p:cNvSpPr/>
          <p:nvPr/>
        </p:nvSpPr>
        <p:spPr>
          <a:xfrm>
            <a:off x="475488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COLLSCAN chip"/>
          <p:cNvSpPr/>
          <p:nvPr/>
        </p:nvSpPr>
        <p:spPr>
          <a:xfrm>
            <a:off x="4983480" y="146304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1" name="COLLSCAN chip label"/>
          <p:cNvSpPr txBox="1"/>
          <p:nvPr/>
        </p:nvSpPr>
        <p:spPr>
          <a:xfrm>
            <a:off x="498348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COLLSCAN</a:t>
            </a:r>
            <a:endParaRPr lang="en-US" sz="1400" dirty="0"/>
          </a:p>
        </p:txBody>
      </p:sp>
      <p:sp>
        <p:nvSpPr>
          <p:cNvPr id="22" name="COLLSCAN text"/>
          <p:cNvSpPr txBox="1"/>
          <p:nvPr/>
        </p:nvSpPr>
        <p:spPr>
          <a:xfrm>
            <a:off x="498348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 index: reads every document in the collection</a:t>
            </a:r>
            <a:endParaRPr lang="en-US" sz="1500" dirty="0"/>
          </a:p>
        </p:txBody>
      </p:sp>
      <p:sp>
        <p:nvSpPr>
          <p:cNvPr id="23" name="IXSCAN card"/>
          <p:cNvSpPr/>
          <p:nvPr/>
        </p:nvSpPr>
        <p:spPr>
          <a:xfrm>
            <a:off x="4754880" y="28346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IXSCAN chip"/>
          <p:cNvSpPr/>
          <p:nvPr/>
        </p:nvSpPr>
        <p:spPr>
          <a:xfrm>
            <a:off x="4983480" y="301752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25" name="IXSCAN chip label"/>
          <p:cNvSpPr txBox="1"/>
          <p:nvPr/>
        </p:nvSpPr>
        <p:spPr>
          <a:xfrm>
            <a:off x="49834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IXSCAN</a:t>
            </a:r>
            <a:endParaRPr lang="en-US" sz="1400" dirty="0"/>
          </a:p>
        </p:txBody>
      </p:sp>
      <p:sp>
        <p:nvSpPr>
          <p:cNvPr id="26" name="IXSCAN text"/>
          <p:cNvSpPr txBox="1"/>
          <p:nvPr/>
        </p:nvSpPr>
        <p:spPr>
          <a:xfrm>
            <a:off x="498348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With index: reads only the matching index keys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Aggregation pipelines</a:t>
            </a:r>
            <a:endParaRPr lang="en-US" sz="3600" dirty="0"/>
          </a:p>
        </p:txBody>
      </p:sp>
      <p:sp>
        <p:nvSpPr>
          <p:cNvPr id="3" name="Stage $match"/>
          <p:cNvSpPr/>
          <p:nvPr/>
        </p:nvSpPr>
        <p:spPr>
          <a:xfrm>
            <a:off x="548640" y="13258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4" name="Stage $match label"/>
          <p:cNvSpPr txBox="1"/>
          <p:nvPr/>
        </p:nvSpPr>
        <p:spPr>
          <a:xfrm>
            <a:off x="548640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$match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1645920" y="1600200"/>
            <a:ext cx="29260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6" name="Stage $lookup"/>
          <p:cNvSpPr/>
          <p:nvPr/>
        </p:nvSpPr>
        <p:spPr>
          <a:xfrm>
            <a:off x="1938528" y="13258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7" name="Stage $lookup label"/>
          <p:cNvSpPr txBox="1"/>
          <p:nvPr/>
        </p:nvSpPr>
        <p:spPr>
          <a:xfrm>
            <a:off x="1938528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$lookup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035808" y="1600200"/>
            <a:ext cx="29260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9" name="Stage $unwind"/>
          <p:cNvSpPr/>
          <p:nvPr/>
        </p:nvSpPr>
        <p:spPr>
          <a:xfrm>
            <a:off x="3328416" y="13258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10" name="Stage $unwind label"/>
          <p:cNvSpPr txBox="1"/>
          <p:nvPr/>
        </p:nvSpPr>
        <p:spPr>
          <a:xfrm>
            <a:off x="3328416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$unwind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4425696" y="1600200"/>
            <a:ext cx="29260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2" name="Stage $group"/>
          <p:cNvSpPr/>
          <p:nvPr/>
        </p:nvSpPr>
        <p:spPr>
          <a:xfrm>
            <a:off x="4718304" y="13258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13" name="Stage $group label"/>
          <p:cNvSpPr txBox="1"/>
          <p:nvPr/>
        </p:nvSpPr>
        <p:spPr>
          <a:xfrm>
            <a:off x="4718304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$group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815584" y="1600200"/>
            <a:ext cx="29260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5" name="Stage $sort"/>
          <p:cNvSpPr/>
          <p:nvPr/>
        </p:nvSpPr>
        <p:spPr>
          <a:xfrm>
            <a:off x="6108192" y="13258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16" name="Stage $sort label"/>
          <p:cNvSpPr txBox="1"/>
          <p:nvPr/>
        </p:nvSpPr>
        <p:spPr>
          <a:xfrm>
            <a:off x="6108192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$sort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7205472" y="1600200"/>
            <a:ext cx="292608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8" name="Stage $project"/>
          <p:cNvSpPr/>
          <p:nvPr/>
        </p:nvSpPr>
        <p:spPr>
          <a:xfrm>
            <a:off x="7498080" y="13258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19" name="Stage $project label"/>
          <p:cNvSpPr txBox="1"/>
          <p:nvPr/>
        </p:nvSpPr>
        <p:spPr>
          <a:xfrm>
            <a:off x="7498080" y="1325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</a:t>
            </a:r>
            <a:endParaRPr lang="en-US" sz="1400" dirty="0"/>
          </a:p>
        </p:txBody>
      </p:sp>
      <p:sp>
        <p:nvSpPr>
          <p:cNvPr id="20" name="Placement % by branch card"/>
          <p:cNvSpPr/>
          <p:nvPr/>
        </p:nvSpPr>
        <p:spPr>
          <a:xfrm>
            <a:off x="457200" y="22402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lacement % by branch title"/>
          <p:cNvSpPr txBox="1"/>
          <p:nvPr/>
        </p:nvSpPr>
        <p:spPr>
          <a:xfrm>
            <a:off x="64008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Placement % by branch</a:t>
            </a:r>
            <a:endParaRPr lang="en-US" sz="1800" dirty="0"/>
          </a:p>
        </p:txBody>
      </p:sp>
      <p:sp>
        <p:nvSpPr>
          <p:cNvPr id="22" name="Placement % by branch body"/>
          <p:cNvSpPr txBox="1"/>
          <p:nvPr/>
        </p:nvSpPr>
        <p:spPr>
          <a:xfrm>
            <a:off x="64008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$lookup applications, $group by branch, $project the percentage</a:t>
            </a:r>
            <a:endParaRPr lang="en-US" sz="1400" dirty="0"/>
          </a:p>
        </p:txBody>
      </p:sp>
      <p:sp>
        <p:nvSpPr>
          <p:cNvPr id="23" name="Company-wise hiring card"/>
          <p:cNvSpPr/>
          <p:nvPr/>
        </p:nvSpPr>
        <p:spPr>
          <a:xfrm>
            <a:off x="3246120" y="22402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ompany-wise hiring title"/>
          <p:cNvSpPr txBox="1"/>
          <p:nvPr/>
        </p:nvSpPr>
        <p:spPr>
          <a:xfrm>
            <a:off x="34290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Company-wise hiring</a:t>
            </a:r>
            <a:endParaRPr lang="en-US" sz="1800" dirty="0"/>
          </a:p>
        </p:txBody>
      </p:sp>
      <p:sp>
        <p:nvSpPr>
          <p:cNvPr id="25" name="Company-wise hiring body"/>
          <p:cNvSpPr txBox="1"/>
          <p:nvPr/>
        </p:nvSpPr>
        <p:spPr>
          <a:xfrm>
            <a:off x="342900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$match Selected, two $lookup stages, $unwind, $group, $sort</a:t>
            </a:r>
            <a:endParaRPr lang="en-US" sz="1400" dirty="0"/>
          </a:p>
        </p:txBody>
      </p:sp>
      <p:sp>
        <p:nvSpPr>
          <p:cNvPr id="26" name="Hiring funnel card"/>
          <p:cNvSpPr/>
          <p:nvPr/>
        </p:nvSpPr>
        <p:spPr>
          <a:xfrm>
            <a:off x="6035040" y="22402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Hiring funnel title"/>
          <p:cNvSpPr txBox="1"/>
          <p:nvPr/>
        </p:nvSpPr>
        <p:spPr>
          <a:xfrm>
            <a:off x="621792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Hiring funnel</a:t>
            </a:r>
            <a:endParaRPr lang="en-US" sz="1800" dirty="0"/>
          </a:p>
        </p:txBody>
      </p:sp>
      <p:sp>
        <p:nvSpPr>
          <p:cNvPr id="28" name="Hiring funnel body"/>
          <p:cNvSpPr txBox="1"/>
          <p:nvPr/>
        </p:nvSpPr>
        <p:spPr>
          <a:xfrm>
            <a:off x="621792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$facet counts every round in a single pass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Query Optimizer and Lab</a:t>
            </a:r>
            <a:endParaRPr lang="en-US" sz="3600" dirty="0"/>
          </a:p>
        </p:txBody>
      </p:sp>
      <p:sp>
        <p:nvSpPr>
          <p:cNvPr id="3" name="Step 1 circle"/>
          <p:cNvSpPr/>
          <p:nvPr/>
        </p:nvSpPr>
        <p:spPr>
          <a:xfrm>
            <a:off x="457200" y="13533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45720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28016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the slow query and read explain()</a:t>
            </a:r>
            <a:endParaRPr lang="en-US" sz="1600" dirty="0"/>
          </a:p>
        </p:txBody>
      </p:sp>
      <p:sp>
        <p:nvSpPr>
          <p:cNvPr id="6" name="Step 2 circle"/>
          <p:cNvSpPr/>
          <p:nvPr/>
        </p:nvSpPr>
        <p:spPr>
          <a:xfrm>
            <a:off x="457200" y="21762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ep 2 number"/>
          <p:cNvSpPr txBox="1"/>
          <p:nvPr/>
        </p:nvSpPr>
        <p:spPr>
          <a:xfrm>
            <a:off x="45720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10312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See COLLSCAN and an in-memory SORT</a:t>
            </a:r>
            <a:endParaRPr lang="en-US" sz="1600" dirty="0"/>
          </a:p>
        </p:txBody>
      </p:sp>
      <p:sp>
        <p:nvSpPr>
          <p:cNvPr id="9" name="Step 3 circle"/>
          <p:cNvSpPr/>
          <p:nvPr/>
        </p:nvSpPr>
        <p:spPr>
          <a:xfrm>
            <a:off x="457200" y="29992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3 number"/>
          <p:cNvSpPr txBox="1"/>
          <p:nvPr/>
        </p:nvSpPr>
        <p:spPr>
          <a:xfrm>
            <a:off x="45720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92608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Advisor recommends an index (ESR rule)</a:t>
            </a:r>
            <a:endParaRPr lang="en-US" sz="1600" dirty="0"/>
          </a:p>
        </p:txBody>
      </p:sp>
      <p:sp>
        <p:nvSpPr>
          <p:cNvPr id="12" name="Step 4 circle"/>
          <p:cNvSpPr/>
          <p:nvPr/>
        </p:nvSpPr>
        <p:spPr>
          <a:xfrm>
            <a:off x="457200" y="382219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4 number"/>
          <p:cNvSpPr txBox="1"/>
          <p:nvPr/>
        </p:nvSpPr>
        <p:spPr>
          <a:xfrm>
            <a:off x="45720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74904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again: fewer documents examined</a:t>
            </a:r>
            <a:endParaRPr lang="en-US" sz="1600" dirty="0"/>
          </a:p>
        </p:txBody>
      </p:sp>
      <p:sp>
        <p:nvSpPr>
          <p:cNvPr id="15" name="Stat 1 card"/>
          <p:cNvSpPr/>
          <p:nvPr/>
        </p:nvSpPr>
        <p:spPr>
          <a:xfrm>
            <a:off x="5577840" y="128016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tat 1 number"/>
          <p:cNvSpPr txBox="1"/>
          <p:nvPr/>
        </p:nvSpPr>
        <p:spPr>
          <a:xfrm>
            <a:off x="5760720" y="12801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7" name="Stat 1 label"/>
          <p:cNvSpPr txBox="1"/>
          <p:nvPr/>
        </p:nvSpPr>
        <p:spPr>
          <a:xfrm>
            <a:off x="6766560" y="12801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predefined safe queries</a:t>
            </a:r>
            <a:endParaRPr lang="en-US" sz="1400" dirty="0"/>
          </a:p>
        </p:txBody>
      </p:sp>
      <p:sp>
        <p:nvSpPr>
          <p:cNvPr id="18" name="Stat 2 card"/>
          <p:cNvSpPr/>
          <p:nvPr/>
        </p:nvSpPr>
        <p:spPr>
          <a:xfrm>
            <a:off x="5577840" y="237744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tat 2 number"/>
          <p:cNvSpPr txBox="1"/>
          <p:nvPr/>
        </p:nvSpPr>
        <p:spPr>
          <a:xfrm>
            <a:off x="5760720" y="237744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Stat 2 label"/>
          <p:cNvSpPr txBox="1"/>
          <p:nvPr/>
        </p:nvSpPr>
        <p:spPr>
          <a:xfrm>
            <a:off x="6766560" y="23774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categories: CRUD to Optimization</a:t>
            </a:r>
            <a:endParaRPr lang="en-US" sz="1400" dirty="0"/>
          </a:p>
        </p:txBody>
      </p:sp>
      <p:sp>
        <p:nvSpPr>
          <p:cNvPr id="21" name="Stat 3 card"/>
          <p:cNvSpPr/>
          <p:nvPr/>
        </p:nvSpPr>
        <p:spPr>
          <a:xfrm>
            <a:off x="5577840" y="3474720"/>
            <a:ext cx="310896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tat 3 number"/>
          <p:cNvSpPr txBox="1"/>
          <p:nvPr/>
        </p:nvSpPr>
        <p:spPr>
          <a:xfrm>
            <a:off x="5760720" y="34747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Stat 3 label"/>
          <p:cNvSpPr txBox="1"/>
          <p:nvPr/>
        </p:nvSpPr>
        <p:spPr>
          <a:xfrm>
            <a:off x="6766560" y="34747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arbitrary commands allowed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Predicting placement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L stat 1"/>
          <p:cNvSpPr/>
          <p:nvPr/>
        </p:nvSpPr>
        <p:spPr>
          <a:xfrm>
            <a:off x="594360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ML stat 1 number"/>
          <p:cNvSpPr txBox="1"/>
          <p:nvPr/>
        </p:nvSpPr>
        <p:spPr>
          <a:xfrm>
            <a:off x="612648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83.8%</a:t>
            </a:r>
            <a:endParaRPr lang="en-US" sz="3000" dirty="0"/>
          </a:p>
        </p:txBody>
      </p:sp>
      <p:sp>
        <p:nvSpPr>
          <p:cNvPr id="6" name="ML stat 1 label"/>
          <p:cNvSpPr txBox="1"/>
          <p:nvPr/>
        </p:nvSpPr>
        <p:spPr>
          <a:xfrm>
            <a:off x="7406640" y="1280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test accuracy</a:t>
            </a:r>
            <a:endParaRPr lang="en-US" sz="1400" dirty="0"/>
          </a:p>
        </p:txBody>
      </p:sp>
      <p:sp>
        <p:nvSpPr>
          <p:cNvPr id="7" name="ML stat 2"/>
          <p:cNvSpPr/>
          <p:nvPr/>
        </p:nvSpPr>
        <p:spPr>
          <a:xfrm>
            <a:off x="5943600" y="233172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ML stat 2 number"/>
          <p:cNvSpPr txBox="1"/>
          <p:nvPr/>
        </p:nvSpPr>
        <p:spPr>
          <a:xfrm>
            <a:off x="6126480" y="2331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3000" dirty="0"/>
          </a:p>
        </p:txBody>
      </p:sp>
      <p:sp>
        <p:nvSpPr>
          <p:cNvPr id="9" name="ML stat 2 label"/>
          <p:cNvSpPr txBox="1"/>
          <p:nvPr/>
        </p:nvSpPr>
        <p:spPr>
          <a:xfrm>
            <a:off x="740664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ROC-AUC</a:t>
            </a:r>
            <a:endParaRPr lang="en-US" sz="1400" dirty="0"/>
          </a:p>
        </p:txBody>
      </p:sp>
      <p:sp>
        <p:nvSpPr>
          <p:cNvPr id="10" name="ML stat 3"/>
          <p:cNvSpPr/>
          <p:nvPr/>
        </p:nvSpPr>
        <p:spPr>
          <a:xfrm>
            <a:off x="5943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ML stat 3 number"/>
          <p:cNvSpPr txBox="1"/>
          <p:nvPr/>
        </p:nvSpPr>
        <p:spPr>
          <a:xfrm>
            <a:off x="6126480" y="3383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1,080</a:t>
            </a:r>
            <a:endParaRPr lang="en-US" sz="3000" dirty="0"/>
          </a:p>
        </p:txBody>
      </p:sp>
      <p:sp>
        <p:nvSpPr>
          <p:cNvPr id="12" name="ML stat 3 label"/>
          <p:cNvSpPr txBox="1"/>
          <p:nvPr/>
        </p:nvSpPr>
        <p:spPr>
          <a:xfrm>
            <a:off x="7406640" y="3383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labelled students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AI Insights</a:t>
            </a:r>
            <a:endParaRPr lang="en-US" sz="3600" dirty="0"/>
          </a:p>
        </p:txBody>
      </p:sp>
      <p:sp>
        <p:nvSpPr>
          <p:cNvPr id="3" name="Flow Question"/>
          <p:cNvSpPr/>
          <p:nvPr/>
        </p:nvSpPr>
        <p:spPr>
          <a:xfrm>
            <a:off x="502920" y="137160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4" name="Flow Question label"/>
          <p:cNvSpPr txBox="1"/>
          <p:nvPr/>
        </p:nvSpPr>
        <p:spPr>
          <a:xfrm>
            <a:off x="502920" y="1371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Question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1874520" y="1755648"/>
            <a:ext cx="32004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6" name="Flow Intent detection"/>
          <p:cNvSpPr/>
          <p:nvPr/>
        </p:nvSpPr>
        <p:spPr>
          <a:xfrm>
            <a:off x="2194560" y="137160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7" name="Flow Intent detection label"/>
          <p:cNvSpPr txBox="1"/>
          <p:nvPr/>
        </p:nvSpPr>
        <p:spPr>
          <a:xfrm>
            <a:off x="2194560" y="1371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Intent detection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566160" y="1755648"/>
            <a:ext cx="32004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9" name="Flow MongoDB query"/>
          <p:cNvSpPr/>
          <p:nvPr/>
        </p:nvSpPr>
        <p:spPr>
          <a:xfrm>
            <a:off x="3886200" y="137160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10" name="Flow MongoDB query label"/>
          <p:cNvSpPr txBox="1"/>
          <p:nvPr/>
        </p:nvSpPr>
        <p:spPr>
          <a:xfrm>
            <a:off x="3886200" y="1371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MongoDB query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5257800" y="1755648"/>
            <a:ext cx="32004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2" name="Flow Real rows"/>
          <p:cNvSpPr/>
          <p:nvPr/>
        </p:nvSpPr>
        <p:spPr>
          <a:xfrm>
            <a:off x="5577840" y="137160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13" name="Flow Real rows label"/>
          <p:cNvSpPr txBox="1"/>
          <p:nvPr/>
        </p:nvSpPr>
        <p:spPr>
          <a:xfrm>
            <a:off x="5577840" y="1371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 rows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6949440" y="1755648"/>
            <a:ext cx="32004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15" name="Flow Explanation"/>
          <p:cNvSpPr/>
          <p:nvPr/>
        </p:nvSpPr>
        <p:spPr>
          <a:xfrm>
            <a:off x="7269480" y="137160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0B2B26"/>
          </a:solidFill>
          <a:ln w="12700">
            <a:solidFill>
              <a:srgbClr val="0B2B26"/>
            </a:solidFill>
            <a:prstDash val="solid"/>
          </a:ln>
        </p:spPr>
      </p:sp>
      <p:sp>
        <p:nvSpPr>
          <p:cNvPr id="16" name="Flow Explanation label"/>
          <p:cNvSpPr txBox="1"/>
          <p:nvPr/>
        </p:nvSpPr>
        <p:spPr>
          <a:xfrm>
            <a:off x="7269480" y="1371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Explanation</a:t>
            </a:r>
            <a:endParaRPr lang="en-US" sz="1400" dirty="0"/>
          </a:p>
        </p:txBody>
      </p:sp>
      <p:sp>
        <p:nvSpPr>
          <p:cNvPr id="17" name="Never invents numbers card"/>
          <p:cNvSpPr/>
          <p:nvPr/>
        </p:nvSpPr>
        <p:spPr>
          <a:xfrm>
            <a:off x="457200" y="25603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ever invents numbers circle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9" name="Never invents numbers icon" descr="Never invents numb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2896819"/>
            <a:ext cx="241402" cy="241402"/>
          </a:xfrm>
          <a:prstGeom prst="rect">
            <a:avLst/>
          </a:prstGeom>
        </p:spPr>
      </p:pic>
      <p:sp>
        <p:nvSpPr>
          <p:cNvPr id="20" name="Never invents numbers title"/>
          <p:cNvSpPr txBox="1"/>
          <p:nvPr/>
        </p:nvSpPr>
        <p:spPr>
          <a:xfrm>
            <a:off x="137160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Never invents numbers</a:t>
            </a:r>
            <a:endParaRPr lang="en-US" sz="1800" dirty="0"/>
          </a:p>
        </p:txBody>
      </p:sp>
      <p:sp>
        <p:nvSpPr>
          <p:cNvPr id="21" name="Never invents numbers body"/>
          <p:cNvSpPr txBox="1"/>
          <p:nvPr/>
        </p:nvSpPr>
        <p:spPr>
          <a:xfrm>
            <a:off x="64008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language model only sees rows returned by MongoDB and only explains them.</a:t>
            </a:r>
            <a:endParaRPr lang="en-US" sz="1400" dirty="0"/>
          </a:p>
        </p:txBody>
      </p:sp>
      <p:sp>
        <p:nvSpPr>
          <p:cNvPr id="22" name="Works without an API key card"/>
          <p:cNvSpPr/>
          <p:nvPr/>
        </p:nvSpPr>
        <p:spPr>
          <a:xfrm>
            <a:off x="4663440" y="25603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Works without an API key circle"/>
          <p:cNvSpPr/>
          <p:nvPr/>
        </p:nvSpPr>
        <p:spPr>
          <a:xfrm>
            <a:off x="4846320" y="2743200"/>
            <a:ext cx="548640" cy="54864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24" name="Works without an API key icon" descr="Works without an API 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2896819"/>
            <a:ext cx="241402" cy="241402"/>
          </a:xfrm>
          <a:prstGeom prst="rect">
            <a:avLst/>
          </a:prstGeom>
        </p:spPr>
      </p:pic>
      <p:sp>
        <p:nvSpPr>
          <p:cNvPr id="25" name="Works without an API key title"/>
          <p:cNvSpPr txBox="1"/>
          <p:nvPr/>
        </p:nvSpPr>
        <p:spPr>
          <a:xfrm>
            <a:off x="557784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Works without an API key</a:t>
            </a:r>
            <a:endParaRPr lang="en-US" sz="1800" dirty="0"/>
          </a:p>
        </p:txBody>
      </p:sp>
      <p:sp>
        <p:nvSpPr>
          <p:cNvPr id="26" name="Works without an API key body"/>
          <p:cNvSpPr txBox="1"/>
          <p:nvPr/>
        </p:nvSpPr>
        <p:spPr>
          <a:xfrm>
            <a:off x="484632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a Gemini key, built-in answers are written from the same real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Units covered</a:t>
            </a:r>
            <a:endParaRPr lang="en-US" sz="3600" dirty="0"/>
          </a:p>
        </p:txBody>
      </p:sp>
      <p:sp>
        <p:nvSpPr>
          <p:cNvPr id="3" name="Unit I card"/>
          <p:cNvSpPr/>
          <p:nvPr/>
        </p:nvSpPr>
        <p:spPr>
          <a:xfrm>
            <a:off x="457200" y="1280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nit I label"/>
          <p:cNvSpPr txBox="1"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Unit I</a:t>
            </a:r>
            <a:endParaRPr lang="en-US" sz="1200" dirty="0"/>
          </a:p>
        </p:txBody>
      </p:sp>
      <p:sp>
        <p:nvSpPr>
          <p:cNvPr id="5" name="Unit I title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NoSQL basics</a:t>
            </a:r>
            <a:endParaRPr lang="en-US" sz="1800" dirty="0"/>
          </a:p>
        </p:txBody>
      </p:sp>
      <p:sp>
        <p:nvSpPr>
          <p:cNvPr id="6" name="Unit I body"/>
          <p:cNvSpPr txBox="1"/>
          <p:nvPr/>
        </p:nvSpPr>
        <p:spPr>
          <a:xfrm>
            <a:off x="64008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MongoDB, Atlas, CAP, BSON</a:t>
            </a:r>
            <a:endParaRPr lang="en-US" sz="1400" dirty="0"/>
          </a:p>
        </p:txBody>
      </p:sp>
      <p:sp>
        <p:nvSpPr>
          <p:cNvPr id="7" name="Unit II card"/>
          <p:cNvSpPr/>
          <p:nvPr/>
        </p:nvSpPr>
        <p:spPr>
          <a:xfrm>
            <a:off x="3246120" y="1280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Unit II label"/>
          <p:cNvSpPr txBox="1"/>
          <p:nvPr/>
        </p:nvSpPr>
        <p:spPr>
          <a:xfrm>
            <a:off x="34290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Unit II</a:t>
            </a:r>
            <a:endParaRPr lang="en-US" sz="1200" dirty="0"/>
          </a:p>
        </p:txBody>
      </p:sp>
      <p:sp>
        <p:nvSpPr>
          <p:cNvPr id="9" name="Unit II title"/>
          <p:cNvSpPr txBox="1"/>
          <p:nvPr/>
        </p:nvSpPr>
        <p:spPr>
          <a:xfrm>
            <a:off x="34290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CRUD and BSON</a:t>
            </a:r>
            <a:endParaRPr lang="en-US" sz="1800" dirty="0"/>
          </a:p>
        </p:txBody>
      </p:sp>
      <p:sp>
        <p:nvSpPr>
          <p:cNvPr id="10" name="Unit II body"/>
          <p:cNvSpPr txBox="1"/>
          <p:nvPr/>
        </p:nvSpPr>
        <p:spPr>
          <a:xfrm>
            <a:off x="342900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CRUD, indexing, explain()</a:t>
            </a:r>
            <a:endParaRPr lang="en-US" sz="1400" dirty="0"/>
          </a:p>
        </p:txBody>
      </p:sp>
      <p:sp>
        <p:nvSpPr>
          <p:cNvPr id="11" name="Unit III card"/>
          <p:cNvSpPr/>
          <p:nvPr/>
        </p:nvSpPr>
        <p:spPr>
          <a:xfrm>
            <a:off x="6035040" y="1280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Unit III label"/>
          <p:cNvSpPr txBox="1"/>
          <p:nvPr/>
        </p:nvSpPr>
        <p:spPr>
          <a:xfrm>
            <a:off x="62179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Unit III</a:t>
            </a:r>
            <a:endParaRPr lang="en-US" sz="1200" dirty="0"/>
          </a:p>
        </p:txBody>
      </p:sp>
      <p:sp>
        <p:nvSpPr>
          <p:cNvPr id="13" name="Unit III title"/>
          <p:cNvSpPr txBox="1"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Modelling</a:t>
            </a:r>
            <a:endParaRPr lang="en-US" sz="1800" dirty="0"/>
          </a:p>
        </p:txBody>
      </p:sp>
      <p:sp>
        <p:nvSpPr>
          <p:cNvPr id="14" name="Unit III body"/>
          <p:cNvSpPr txBox="1"/>
          <p:nvPr/>
        </p:nvSpPr>
        <p:spPr>
          <a:xfrm>
            <a:off x="621792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Embedding, references, validation</a:t>
            </a:r>
            <a:endParaRPr lang="en-US" sz="1400" dirty="0"/>
          </a:p>
        </p:txBody>
      </p:sp>
      <p:sp>
        <p:nvSpPr>
          <p:cNvPr id="15" name="Unit IV card"/>
          <p:cNvSpPr/>
          <p:nvPr/>
        </p:nvSpPr>
        <p:spPr>
          <a:xfrm>
            <a:off x="457200" y="28346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Unit IV label"/>
          <p:cNvSpPr txBox="1"/>
          <p:nvPr/>
        </p:nvSpPr>
        <p:spPr>
          <a:xfrm>
            <a:off x="64008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Unit IV</a:t>
            </a:r>
            <a:endParaRPr lang="en-US" sz="1200" dirty="0"/>
          </a:p>
        </p:txBody>
      </p:sp>
      <p:sp>
        <p:nvSpPr>
          <p:cNvPr id="17" name="Unit IV title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Aggregation</a:t>
            </a:r>
            <a:endParaRPr lang="en-US" sz="1800" dirty="0"/>
          </a:p>
        </p:txBody>
      </p:sp>
      <p:sp>
        <p:nvSpPr>
          <p:cNvPr id="18" name="Unit IV body"/>
          <p:cNvSpPr txBox="1"/>
          <p:nvPr/>
        </p:nvSpPr>
        <p:spPr>
          <a:xfrm>
            <a:off x="640080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Indexes, $lookup, $group, explain</a:t>
            </a:r>
            <a:endParaRPr lang="en-US" sz="1400" dirty="0"/>
          </a:p>
        </p:txBody>
      </p:sp>
      <p:sp>
        <p:nvSpPr>
          <p:cNvPr id="19" name="Unit V card"/>
          <p:cNvSpPr/>
          <p:nvPr/>
        </p:nvSpPr>
        <p:spPr>
          <a:xfrm>
            <a:off x="3246120" y="28346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Unit V label"/>
          <p:cNvSpPr txBox="1"/>
          <p:nvPr/>
        </p:nvSpPr>
        <p:spPr>
          <a:xfrm>
            <a:off x="34290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Unit V</a:t>
            </a:r>
            <a:endParaRPr lang="en-US" sz="1200" dirty="0"/>
          </a:p>
        </p:txBody>
      </p:sp>
      <p:sp>
        <p:nvSpPr>
          <p:cNvPr id="21" name="Unit V title"/>
          <p:cNvSpPr txBox="1"/>
          <p:nvPr/>
        </p:nvSpPr>
        <p:spPr>
          <a:xfrm>
            <a:off x="34290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Integration</a:t>
            </a:r>
            <a:endParaRPr lang="en-US" sz="1800" dirty="0"/>
          </a:p>
        </p:txBody>
      </p:sp>
      <p:sp>
        <p:nvSpPr>
          <p:cNvPr id="22" name="Unit V body"/>
          <p:cNvSpPr txBox="1"/>
          <p:nvPr/>
        </p:nvSpPr>
        <p:spPr>
          <a:xfrm>
            <a:off x="3429000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Mongoose, PyMongo, ML, optimizer</a:t>
            </a:r>
            <a:endParaRPr lang="en-US" sz="1400" dirty="0"/>
          </a:p>
        </p:txBody>
      </p:sp>
      <p:sp>
        <p:nvSpPr>
          <p:cNvPr id="23" name="Unit VI card"/>
          <p:cNvSpPr/>
          <p:nvPr/>
        </p:nvSpPr>
        <p:spPr>
          <a:xfrm>
            <a:off x="6035040" y="283464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Unit VI label"/>
          <p:cNvSpPr txBox="1"/>
          <p:nvPr/>
        </p:nvSpPr>
        <p:spPr>
          <a:xfrm>
            <a:off x="62179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Unit VI</a:t>
            </a:r>
            <a:endParaRPr lang="en-US" sz="1200" dirty="0"/>
          </a:p>
        </p:txBody>
      </p:sp>
      <p:sp>
        <p:nvSpPr>
          <p:cNvPr id="25" name="Unit VI title"/>
          <p:cNvSpPr txBox="1"/>
          <p:nvPr/>
        </p:nvSpPr>
        <p:spPr>
          <a:xfrm>
            <a:off x="62179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Project</a:t>
            </a:r>
            <a:endParaRPr lang="en-US" sz="1800" dirty="0"/>
          </a:p>
        </p:txBody>
      </p:sp>
      <p:sp>
        <p:nvSpPr>
          <p:cNvPr id="26" name="Unit VI body"/>
          <p:cNvSpPr txBox="1"/>
          <p:nvPr/>
        </p:nvSpPr>
        <p:spPr>
          <a:xfrm>
            <a:off x="6217920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app, tests, viva,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Final stat 1"/>
          <p:cNvSpPr/>
          <p:nvPr/>
        </p:nvSpPr>
        <p:spPr>
          <a:xfrm>
            <a:off x="45720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403A"/>
          </a:solidFill>
          <a:ln w="12700">
            <a:solidFill>
              <a:srgbClr val="12403A"/>
            </a:solidFill>
            <a:prstDash val="solid"/>
          </a:ln>
        </p:spPr>
      </p:sp>
      <p:sp>
        <p:nvSpPr>
          <p:cNvPr id="4" name="Final stat 1 number"/>
          <p:cNvSpPr txBox="1"/>
          <p:nvPr/>
        </p:nvSpPr>
        <p:spPr>
          <a:xfrm>
            <a:off x="640080" y="12801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600" dirty="0"/>
          </a:p>
        </p:txBody>
      </p:sp>
      <p:sp>
        <p:nvSpPr>
          <p:cNvPr id="5" name="Final stat 1 label"/>
          <p:cNvSpPr txBox="1"/>
          <p:nvPr/>
        </p:nvSpPr>
        <p:spPr>
          <a:xfrm>
            <a:off x="1874520" y="12801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students</a:t>
            </a:r>
            <a:endParaRPr lang="en-US" sz="1400" dirty="0"/>
          </a:p>
        </p:txBody>
      </p:sp>
      <p:sp>
        <p:nvSpPr>
          <p:cNvPr id="6" name="Final stat 2"/>
          <p:cNvSpPr/>
          <p:nvPr/>
        </p:nvSpPr>
        <p:spPr>
          <a:xfrm>
            <a:off x="324612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403A"/>
          </a:solidFill>
          <a:ln w="12700">
            <a:solidFill>
              <a:srgbClr val="12403A"/>
            </a:solidFill>
            <a:prstDash val="solid"/>
          </a:ln>
        </p:spPr>
      </p:sp>
      <p:sp>
        <p:nvSpPr>
          <p:cNvPr id="7" name="Final stat 2 number"/>
          <p:cNvSpPr txBox="1"/>
          <p:nvPr/>
        </p:nvSpPr>
        <p:spPr>
          <a:xfrm>
            <a:off x="3429000" y="12801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600" dirty="0"/>
          </a:p>
        </p:txBody>
      </p:sp>
      <p:sp>
        <p:nvSpPr>
          <p:cNvPr id="8" name="Final stat 2 label"/>
          <p:cNvSpPr txBox="1"/>
          <p:nvPr/>
        </p:nvSpPr>
        <p:spPr>
          <a:xfrm>
            <a:off x="4663440" y="12801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9" name="Final stat 3"/>
          <p:cNvSpPr/>
          <p:nvPr/>
        </p:nvSpPr>
        <p:spPr>
          <a:xfrm>
            <a:off x="603504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2403A"/>
          </a:solidFill>
          <a:ln w="12700">
            <a:solidFill>
              <a:srgbClr val="12403A"/>
            </a:solidFill>
            <a:prstDash val="solid"/>
          </a:ln>
        </p:spPr>
      </p:sp>
      <p:sp>
        <p:nvSpPr>
          <p:cNvPr id="10" name="Final stat 3 number"/>
          <p:cNvSpPr txBox="1"/>
          <p:nvPr/>
        </p:nvSpPr>
        <p:spPr>
          <a:xfrm>
            <a:off x="6217920" y="12801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600" dirty="0"/>
          </a:p>
        </p:txBody>
      </p:sp>
      <p:sp>
        <p:nvSpPr>
          <p:cNvPr id="11" name="Final stat 3 label"/>
          <p:cNvSpPr txBox="1"/>
          <p:nvPr/>
        </p:nvSpPr>
        <p:spPr>
          <a:xfrm>
            <a:off x="7452360" y="12801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placed (demo data)</a:t>
            </a:r>
            <a:endParaRPr lang="en-US" sz="1400" dirty="0"/>
          </a:p>
        </p:txBody>
      </p:sp>
      <p:sp>
        <p:nvSpPr>
          <p:cNvPr id="12" name="Limits heading"/>
          <p:cNvSpPr txBox="1"/>
          <p:nvPr/>
        </p:nvSpPr>
        <p:spPr>
          <a:xfrm>
            <a:off x="4572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3" name="Limits list"/>
          <p:cNvSpPr txBox="1"/>
          <p:nvPr/>
        </p:nvSpPr>
        <p:spPr>
          <a:xfrm>
            <a:off x="457200" y="3108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Synthetic demo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login or roles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Fixed AI question types</a:t>
            </a:r>
            <a:endParaRPr lang="en-US" sz="1500" dirty="0"/>
          </a:p>
        </p:txBody>
      </p:sp>
      <p:sp>
        <p:nvSpPr>
          <p:cNvPr id="14" name="Future heading"/>
          <p:cNvSpPr txBox="1"/>
          <p:nvPr/>
        </p:nvSpPr>
        <p:spPr>
          <a:xfrm>
            <a:off x="47548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5" name="Future list"/>
          <p:cNvSpPr txBox="1"/>
          <p:nvPr/>
        </p:nvSpPr>
        <p:spPr>
          <a:xfrm>
            <a:off x="4754880" y="3108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Role-based login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Resume parsing and email alerts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More ML models, auto retraining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IQ">
  <a:themeElements>
    <a:clrScheme name="CampusIQ">
      <a:dk1>
        <a:srgbClr val="1B2B2A"/>
      </a:dk1>
      <a:lt1>
        <a:srgbClr val="FFFFFF"/>
      </a:lt1>
      <a:dk2>
        <a:srgbClr val="0B2B26"/>
      </a:dk2>
      <a:lt2>
        <a:srgbClr val="EAF5EF"/>
      </a:lt2>
      <a:accent1>
        <a:srgbClr val="13AA52"/>
      </a:accent1>
      <a:accent2>
        <a:srgbClr val="0E7C66"/>
      </a:accent2>
      <a:accent3>
        <a:srgbClr val="F5A623"/>
      </a:accent3>
      <a:accent4>
        <a:srgbClr val="3B82A0"/>
      </a:accent4>
      <a:accent5>
        <a:srgbClr val="D9534F"/>
      </a:accent5>
      <a:accent6>
        <a:srgbClr val="5B6B73"/>
      </a:accent6>
      <a:hlink>
        <a:srgbClr val="0E7C66"/>
      </a:hlink>
      <a:folHlink>
        <a:srgbClr val="5B6B73"/>
      </a:folHlink>
    </a:clrScheme>
    <a:fontScheme name="CampusIQ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CampusIQ - Intelligent Student &amp; Placement Analytics System</dc:title>
  <dc:subject>PptxGenJS Presentation</dc:subject>
  <dc:creator>Amit</dc:creator>
  <cp:lastModifiedBy>Amit</cp:lastModifiedBy>
  <cp:revision>1</cp:revision>
  <dcterms:created xsi:type="dcterms:W3CDTF">2026-10-18T15:46:46Z</dcterms:created>
  <dcterms:modified xsi:type="dcterms:W3CDTF">2026-10-18T15:46:46Z</dcterms:modified>
</cp:coreProperties>
</file>